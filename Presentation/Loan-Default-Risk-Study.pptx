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81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82" r:id="rId13"/>
    <p:sldId id="266" r:id="rId14"/>
    <p:sldId id="267" r:id="rId15"/>
    <p:sldId id="268" r:id="rId16"/>
    <p:sldId id="270" r:id="rId17"/>
    <p:sldId id="272" r:id="rId18"/>
    <p:sldId id="283" r:id="rId19"/>
    <p:sldId id="275" r:id="rId20"/>
    <p:sldId id="277" r:id="rId21"/>
    <p:sldId id="279" r:id="rId22"/>
    <p:sldId id="280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2BC240-2CC1-4AFB-B71F-BBD000F6251E}" v="956" dt="2025-12-19T15:45:28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5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15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0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5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0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4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7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5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0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lendingclub.com/personal-loan/rates-fees?utm_source=chatgpt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usainsb/lendingclub-issued-loans?select=lc_loan.cs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7A3ABB9-59C0-1142-8AAC-D96F48C2E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piggy bank with coins&#10;&#10;AI-generated content may be incorrect.">
            <a:extLst>
              <a:ext uri="{FF2B5EF4-FFF2-40B4-BE49-F238E27FC236}">
                <a16:creationId xmlns:a16="http://schemas.microsoft.com/office/drawing/2014/main" id="{C93C7310-4F26-6033-3200-54BEA96A8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74"/>
            <a:ext cx="12192001" cy="68665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9" y="978407"/>
            <a:ext cx="6557006" cy="3848117"/>
          </a:xfrm>
        </p:spPr>
        <p:txBody>
          <a:bodyPr anchor="t">
            <a:normAutofit fontScale="90000"/>
          </a:bodyPr>
          <a:lstStyle/>
          <a:p>
            <a:r>
              <a:rPr lang="en-US" sz="6600" dirty="0">
                <a:ea typeface="+mj-lt"/>
                <a:cs typeface="+mj-lt"/>
              </a:rPr>
              <a:t>Loan Default Prediction Using </a:t>
            </a:r>
            <a:r>
              <a:rPr lang="en-US" sz="6600" err="1">
                <a:ea typeface="+mj-lt"/>
                <a:cs typeface="+mj-lt"/>
              </a:rPr>
              <a:t>LendingClub</a:t>
            </a:r>
            <a:r>
              <a:rPr lang="en-US" sz="6600" dirty="0">
                <a:ea typeface="+mj-lt"/>
                <a:cs typeface="+mj-lt"/>
              </a:rPr>
              <a:t> Data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2218" y="4418356"/>
            <a:ext cx="4664624" cy="18287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i="0" dirty="0">
                <a:ea typeface="+mn-lt"/>
                <a:cs typeface="+mn-lt"/>
              </a:rPr>
              <a:t>EDA &amp; Machine Learning–Based Loan Default Risk Analysis</a:t>
            </a:r>
            <a:endParaRPr lang="en-US" b="1" dirty="0"/>
          </a:p>
          <a:p>
            <a:r>
              <a:rPr lang="en-US" dirty="0"/>
              <a:t>Memoona </a:t>
            </a:r>
            <a:r>
              <a:rPr lang="en-US" dirty="0" err="1"/>
              <a:t>Mashood</a:t>
            </a:r>
            <a:endParaRPr lang="en-US"/>
          </a:p>
          <a:p>
            <a:r>
              <a:rPr lang="en-US" dirty="0"/>
              <a:t>Data Analysis – Cohort 23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C199B-6D39-40A5-60B2-64079102B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3DE491-0822-E06F-2F96-DF7B05EEE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ED10D71-F754-F9AD-E5A1-D5563707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14680" y="6209925"/>
            <a:ext cx="4068671" cy="45719"/>
          </a:xfrm>
          <a:custGeom>
            <a:avLst/>
            <a:gdLst>
              <a:gd name="connsiteX0" fmla="*/ 0 w 4068671"/>
              <a:gd name="connsiteY0" fmla="*/ 0 h 45719"/>
              <a:gd name="connsiteX1" fmla="*/ 4068671 w 4068671"/>
              <a:gd name="connsiteY1" fmla="*/ 0 h 45719"/>
              <a:gd name="connsiteX2" fmla="*/ 4068671 w 4068671"/>
              <a:gd name="connsiteY2" fmla="*/ 45719 h 45719"/>
              <a:gd name="connsiteX3" fmla="*/ 0 w 4068671"/>
              <a:gd name="connsiteY3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8671" h="45719">
                <a:moveTo>
                  <a:pt x="0" y="0"/>
                </a:moveTo>
                <a:lnTo>
                  <a:pt x="4068671" y="0"/>
                </a:lnTo>
                <a:lnTo>
                  <a:pt x="4068671" y="45719"/>
                </a:lnTo>
                <a:lnTo>
                  <a:pt x="0" y="457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4EB3-6FBC-1276-8B38-F4991BEF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Lending Club 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23FD7-CE40-F97D-4BE4-2E82448C7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Median Loan Amount:</a:t>
            </a:r>
            <a:r>
              <a:rPr lang="en-US" dirty="0">
                <a:ea typeface="+mn-lt"/>
                <a:cs typeface="+mn-lt"/>
              </a:rPr>
              <a:t> ~$14,500 </a:t>
            </a:r>
          </a:p>
          <a:p>
            <a:r>
              <a:rPr lang="en-US" b="1" dirty="0">
                <a:ea typeface="+mn-lt"/>
                <a:cs typeface="+mn-lt"/>
              </a:rPr>
              <a:t>Loan Term:</a:t>
            </a:r>
            <a:r>
              <a:rPr lang="en-US" dirty="0">
                <a:ea typeface="+mn-lt"/>
                <a:cs typeface="+mn-lt"/>
              </a:rPr>
              <a:t> Mostly 36 months, some 60 months </a:t>
            </a:r>
          </a:p>
          <a:p>
            <a:r>
              <a:rPr lang="en-US" b="1" dirty="0">
                <a:ea typeface="+mn-lt"/>
                <a:cs typeface="+mn-lt"/>
              </a:rPr>
              <a:t>Interest Rate Range:</a:t>
            </a:r>
            <a:r>
              <a:rPr lang="en-US" dirty="0">
                <a:ea typeface="+mn-lt"/>
                <a:cs typeface="+mn-lt"/>
              </a:rPr>
              <a:t> 7% – 36% </a:t>
            </a:r>
          </a:p>
          <a:p>
            <a:r>
              <a:rPr lang="en-US" b="1" dirty="0">
                <a:ea typeface="+mn-lt"/>
                <a:cs typeface="+mn-lt"/>
              </a:rPr>
              <a:t>Typical Borrower Income:</a:t>
            </a:r>
            <a:r>
              <a:rPr lang="en-US" dirty="0">
                <a:ea typeface="+mn-lt"/>
                <a:cs typeface="+mn-lt"/>
              </a:rPr>
              <a:t> ~$73,945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Debt-to-Income Ratio (DTI):</a:t>
            </a:r>
            <a:r>
              <a:rPr lang="en-US" dirty="0">
                <a:ea typeface="+mn-lt"/>
                <a:cs typeface="+mn-lt"/>
              </a:rPr>
              <a:t> 10% – 20%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Home Ownership:</a:t>
            </a:r>
            <a:r>
              <a:rPr lang="en-US" dirty="0">
                <a:ea typeface="+mn-lt"/>
                <a:cs typeface="+mn-lt"/>
              </a:rPr>
              <a:t> Mostly Rent or Mortgage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Loan Purpose:</a:t>
            </a:r>
            <a:r>
              <a:rPr lang="en-US" dirty="0">
                <a:ea typeface="+mn-lt"/>
                <a:cs typeface="+mn-lt"/>
              </a:rPr>
              <a:t> Debt consolidation, credit card refinancing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Stats Link</a:t>
            </a:r>
            <a:endParaRPr lang="en-US" dirty="0"/>
          </a:p>
        </p:txBody>
      </p:sp>
      <p:pic>
        <p:nvPicPr>
          <p:cNvPr id="5" name="Picture 4" descr="A blue and orange logo&#10;&#10;AI-generated content may be incorrect.">
            <a:extLst>
              <a:ext uri="{FF2B5EF4-FFF2-40B4-BE49-F238E27FC236}">
                <a16:creationId xmlns:a16="http://schemas.microsoft.com/office/drawing/2014/main" id="{A1945F83-9651-A155-00C5-83025AF38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816" y="1582860"/>
            <a:ext cx="3696677" cy="11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7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FD7-FEAA-44C3-4A82-B3B96E77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4B309-9929-0828-9F0B-C96B4263D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592" y="1718916"/>
            <a:ext cx="10960296" cy="1256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LendingClub</a:t>
            </a:r>
            <a:r>
              <a:rPr lang="en-US" dirty="0">
                <a:ea typeface="+mn-lt"/>
                <a:cs typeface="+mn-lt"/>
              </a:rPr>
              <a:t> issues thousands of loans annually. </a:t>
            </a:r>
          </a:p>
          <a:p>
            <a:r>
              <a:rPr lang="en-US" dirty="0">
                <a:ea typeface="+mn-lt"/>
                <a:cs typeface="+mn-lt"/>
              </a:rPr>
              <a:t>Some borrowers </a:t>
            </a:r>
            <a:r>
              <a:rPr lang="en-US" b="1" dirty="0">
                <a:ea typeface="+mn-lt"/>
                <a:cs typeface="+mn-lt"/>
              </a:rPr>
              <a:t>default (Charged Off)</a:t>
            </a:r>
            <a:r>
              <a:rPr lang="en-US" dirty="0">
                <a:ea typeface="+mn-lt"/>
                <a:cs typeface="+mn-lt"/>
              </a:rPr>
              <a:t>, causing financial risk</a:t>
            </a:r>
          </a:p>
          <a:p>
            <a:r>
              <a:rPr lang="en-US" dirty="0">
                <a:ea typeface="+mn-lt"/>
                <a:cs typeface="+mn-lt"/>
              </a:rPr>
              <a:t>Traditional screening may miss behavioral patterns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A2B91A-B6A2-0645-D716-91BA79669C79}"/>
              </a:ext>
            </a:extLst>
          </p:cNvPr>
          <p:cNvSpPr txBox="1">
            <a:spLocks/>
          </p:cNvSpPr>
          <p:nvPr/>
        </p:nvSpPr>
        <p:spPr>
          <a:xfrm>
            <a:off x="517300" y="3113962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a typeface="+mj-lt"/>
                <a:cs typeface="+mj-lt"/>
              </a:rPr>
              <a:t>Project Goal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684534-77CA-31C8-2E6B-C747F77024A0}"/>
              </a:ext>
            </a:extLst>
          </p:cNvPr>
          <p:cNvSpPr txBox="1">
            <a:spLocks/>
          </p:cNvSpPr>
          <p:nvPr/>
        </p:nvSpPr>
        <p:spPr>
          <a:xfrm>
            <a:off x="800609" y="3844701"/>
            <a:ext cx="11077526" cy="20186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Identify the </a:t>
            </a:r>
            <a:r>
              <a:rPr lang="en-US" b="1" dirty="0">
                <a:ea typeface="+mn-lt"/>
                <a:cs typeface="+mn-lt"/>
              </a:rPr>
              <a:t>key factors </a:t>
            </a:r>
            <a:r>
              <a:rPr lang="en-US" dirty="0">
                <a:ea typeface="+mn-lt"/>
                <a:cs typeface="+mn-lt"/>
              </a:rPr>
              <a:t>that drive loan default</a:t>
            </a:r>
          </a:p>
          <a:p>
            <a:r>
              <a:rPr lang="en-US" dirty="0">
                <a:ea typeface="+mn-lt"/>
                <a:cs typeface="+mn-lt"/>
              </a:rPr>
              <a:t>Discover </a:t>
            </a:r>
            <a:r>
              <a:rPr lang="en-US" b="1" dirty="0">
                <a:ea typeface="+mn-lt"/>
                <a:cs typeface="+mn-lt"/>
              </a:rPr>
              <a:t>patterns that distinguish </a:t>
            </a:r>
            <a:r>
              <a:rPr lang="en-US" dirty="0">
                <a:ea typeface="+mn-lt"/>
                <a:cs typeface="+mn-lt"/>
              </a:rPr>
              <a:t>defaulters from fully-paid borrowers</a:t>
            </a:r>
          </a:p>
          <a:p>
            <a:r>
              <a:rPr lang="en-US" dirty="0">
                <a:ea typeface="+mn-lt"/>
                <a:cs typeface="+mn-lt"/>
              </a:rPr>
              <a:t>Explore </a:t>
            </a:r>
            <a:r>
              <a:rPr lang="en-US" b="1" dirty="0">
                <a:ea typeface="+mn-lt"/>
                <a:cs typeface="+mn-lt"/>
              </a:rPr>
              <a:t>interactions </a:t>
            </a:r>
            <a:r>
              <a:rPr lang="en-US" dirty="0">
                <a:ea typeface="+mn-lt"/>
                <a:cs typeface="+mn-lt"/>
              </a:rPr>
              <a:t>between risk factors</a:t>
            </a:r>
          </a:p>
          <a:p>
            <a:r>
              <a:rPr lang="en-US" dirty="0">
                <a:ea typeface="+mn-lt"/>
                <a:cs typeface="+mn-lt"/>
              </a:rPr>
              <a:t>Build </a:t>
            </a:r>
            <a:r>
              <a:rPr lang="en-US" b="1" dirty="0">
                <a:ea typeface="+mn-lt"/>
                <a:cs typeface="+mn-lt"/>
              </a:rPr>
              <a:t>ML models</a:t>
            </a:r>
            <a:r>
              <a:rPr lang="en-US" dirty="0">
                <a:ea typeface="+mn-lt"/>
                <a:cs typeface="+mn-lt"/>
              </a:rPr>
              <a:t> to predict default risk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8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9406-A7D8-C349-DBDC-862DD576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4810"/>
          </a:xfrm>
        </p:spPr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11765-96A3-3100-24A2-A12E1D1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43608"/>
            <a:ext cx="1115568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Source:</a:t>
            </a:r>
            <a:r>
              <a:rPr lang="en-US" dirty="0">
                <a:ea typeface="+mn-lt"/>
                <a:cs typeface="+mn-lt"/>
              </a:rPr>
              <a:t> Lending Club issued-loan </a:t>
            </a:r>
            <a:r>
              <a:rPr lang="en-US" dirty="0">
                <a:ea typeface="+mn-lt"/>
                <a:cs typeface="+mn-lt"/>
                <a:hlinkClick r:id="rId2"/>
              </a:rPr>
              <a:t>dataset</a:t>
            </a:r>
            <a:r>
              <a:rPr lang="en-US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Total Observations:</a:t>
            </a:r>
            <a:r>
              <a:rPr lang="en-US" dirty="0">
                <a:ea typeface="+mn-lt"/>
                <a:cs typeface="+mn-lt"/>
              </a:rPr>
              <a:t> ~850k Loans and 74 Features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Categories of Features Used: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Loan Characteristics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Borrower Financials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Demographics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Target</a:t>
            </a:r>
            <a:r>
              <a:rPr lang="en-US" b="1" dirty="0"/>
              <a:t> Variable:</a:t>
            </a:r>
            <a:endParaRPr lang="en-US"/>
          </a:p>
          <a:p>
            <a:r>
              <a:rPr lang="en-US" b="1" dirty="0"/>
              <a:t>Loan Status: </a:t>
            </a:r>
            <a:r>
              <a:rPr lang="en-US" dirty="0"/>
              <a:t>Fully Paid or Charged Off ~ Default</a:t>
            </a:r>
          </a:p>
        </p:txBody>
      </p:sp>
    </p:spTree>
    <p:extLst>
      <p:ext uri="{BB962C8B-B14F-4D97-AF65-F5344CB8AC3E}">
        <p14:creationId xmlns:p14="http://schemas.microsoft.com/office/powerpoint/2010/main" val="103182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CCFCF-E976-287F-EC7C-488F02B7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+mj-cs"/>
              </a:rPr>
              <a:t>Loan Status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B1755-3227-525B-3B15-55E6F0FB4E7F}"/>
              </a:ext>
            </a:extLst>
          </p:cNvPr>
          <p:cNvSpPr txBox="1"/>
          <p:nvPr/>
        </p:nvSpPr>
        <p:spPr>
          <a:xfrm>
            <a:off x="6547104" y="2304288"/>
            <a:ext cx="5129784" cy="40507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18% of borrowers defaulted; default is moderate in this dataset.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Imbalanced 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677BC-AEDF-AB72-E11E-B7637A33A3CB}"/>
              </a:ext>
            </a:extLst>
          </p:cNvPr>
          <p:cNvSpPr txBox="1"/>
          <p:nvPr/>
        </p:nvSpPr>
        <p:spPr>
          <a:xfrm>
            <a:off x="7450666" y="2571749"/>
            <a:ext cx="2698750" cy="3058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graph of a loan&#10;&#10;AI-generated content may be incorrect.">
            <a:extLst>
              <a:ext uri="{FF2B5EF4-FFF2-40B4-BE49-F238E27FC236}">
                <a16:creationId xmlns:a16="http://schemas.microsoft.com/office/drawing/2014/main" id="{D57AF28D-AAC4-CCC1-0FC0-61EAAB183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59" y="1973383"/>
            <a:ext cx="5154541" cy="44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3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564E-FFEB-256D-A073-119DD150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Loan Characteristics-Loan Amount</a:t>
            </a:r>
            <a:endParaRPr lang="en-US" dirty="0"/>
          </a:p>
        </p:txBody>
      </p:sp>
      <p:pic>
        <p:nvPicPr>
          <p:cNvPr id="4" name="Content Placeholder 3" descr="A graph of a distribution of loan amount&#10;&#10;AI-generated content may be incorrect.">
            <a:extLst>
              <a:ext uri="{FF2B5EF4-FFF2-40B4-BE49-F238E27FC236}">
                <a16:creationId xmlns:a16="http://schemas.microsoft.com/office/drawing/2014/main" id="{87928A7D-80A1-8F11-4B19-4070028D5D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851" y="2037230"/>
            <a:ext cx="5745061" cy="4033540"/>
          </a:xfrm>
          <a:prstGeom prst="rect">
            <a:avLst/>
          </a:prstGeom>
        </p:spPr>
      </p:pic>
      <p:pic>
        <p:nvPicPr>
          <p:cNvPr id="6" name="Picture 5" descr="A graph showing a couple of blue and red squares&#10;&#10;AI-generated content may be incorrect.">
            <a:extLst>
              <a:ext uri="{FF2B5EF4-FFF2-40B4-BE49-F238E27FC236}">
                <a16:creationId xmlns:a16="http://schemas.microsoft.com/office/drawing/2014/main" id="{1D11DCB1-7B8D-0E85-3154-A32C1B3D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11" y="2041768"/>
            <a:ext cx="5849150" cy="402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65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B5B91-954A-3678-AD6D-E19E0C8C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 Rate</a:t>
            </a:r>
          </a:p>
        </p:txBody>
      </p:sp>
      <p:pic>
        <p:nvPicPr>
          <p:cNvPr id="6" name="Picture 5" descr="A graph of a distribution of interest rates&#10;&#10;AI-generated content may be incorrect.">
            <a:extLst>
              <a:ext uri="{FF2B5EF4-FFF2-40B4-BE49-F238E27FC236}">
                <a16:creationId xmlns:a16="http://schemas.microsoft.com/office/drawing/2014/main" id="{8F7745ED-8AAE-2AC8-0651-8B0DB3D2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58" y="1914770"/>
            <a:ext cx="5838195" cy="4103080"/>
          </a:xfrm>
          <a:prstGeom prst="rect">
            <a:avLst/>
          </a:prstGeom>
        </p:spPr>
      </p:pic>
      <p:pic>
        <p:nvPicPr>
          <p:cNvPr id="3" name="Picture 2" descr="A graph showing a loan status&#10;&#10;AI-generated content may be incorrect.">
            <a:extLst>
              <a:ext uri="{FF2B5EF4-FFF2-40B4-BE49-F238E27FC236}">
                <a16:creationId xmlns:a16="http://schemas.microsoft.com/office/drawing/2014/main" id="{4EBF08C6-181F-C116-CA11-47F61E3E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022" y="1914769"/>
            <a:ext cx="5829109" cy="410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12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856F-DB44-83CE-4A66-34E69B49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Rate Trends</a:t>
            </a:r>
          </a:p>
        </p:txBody>
      </p:sp>
      <p:pic>
        <p:nvPicPr>
          <p:cNvPr id="4" name="Content Placeholder 3" descr="A graph of blue bars with numbers&#10;&#10;AI-generated content may be incorrect.">
            <a:extLst>
              <a:ext uri="{FF2B5EF4-FFF2-40B4-BE49-F238E27FC236}">
                <a16:creationId xmlns:a16="http://schemas.microsoft.com/office/drawing/2014/main" id="{4E93C8BC-AB68-9666-AEAC-602D91998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976" y="1826377"/>
            <a:ext cx="4970450" cy="3444944"/>
          </a:xfrm>
          <a:prstGeom prst="rect">
            <a:avLst/>
          </a:prstGeom>
        </p:spPr>
      </p:pic>
      <p:pic>
        <p:nvPicPr>
          <p:cNvPr id="5" name="Picture 4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7D602961-0460-6461-3E2E-93751FD6A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159" y="1826845"/>
            <a:ext cx="5177450" cy="35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983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E124-9FA3-600C-4D5D-353303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Loan Repaying Term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98BBD6-9B14-005B-608C-6A077BF6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19" y="1714499"/>
            <a:ext cx="5349128" cy="4773084"/>
          </a:xfrm>
          <a:prstGeom prst="rect">
            <a:avLst/>
          </a:prstGeom>
        </p:spPr>
      </p:pic>
      <p:pic>
        <p:nvPicPr>
          <p:cNvPr id="3" name="Picture 2" descr="A graph of a loan term&#10;&#10;AI-generated content may be incorrect.">
            <a:extLst>
              <a:ext uri="{FF2B5EF4-FFF2-40B4-BE49-F238E27FC236}">
                <a16:creationId xmlns:a16="http://schemas.microsoft.com/office/drawing/2014/main" id="{9D556197-B1B2-4F03-CBE0-B23CA2094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21" y="1944077"/>
            <a:ext cx="4450494" cy="45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9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6F74F-FC14-5121-B17D-05C3273F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70946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Relationship b/w Interest Rate and Term</a:t>
            </a:r>
          </a:p>
        </p:txBody>
      </p:sp>
      <p:pic>
        <p:nvPicPr>
          <p:cNvPr id="3" name="Picture 2" descr="A graph of a graph showing the amount of interest rate by loan term&#10;&#10;AI-generated content may be incorrect.">
            <a:extLst>
              <a:ext uri="{FF2B5EF4-FFF2-40B4-BE49-F238E27FC236}">
                <a16:creationId xmlns:a16="http://schemas.microsoft.com/office/drawing/2014/main" id="{421AB11A-B70A-483E-DD51-085FD9F27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28" y="1709616"/>
            <a:ext cx="7106009" cy="49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01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42A3-9CDA-D966-011D-B3CDF4E2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Installment</a:t>
            </a:r>
          </a:p>
        </p:txBody>
      </p:sp>
      <p:pic>
        <p:nvPicPr>
          <p:cNvPr id="4" name="Content Placeholder 3" descr="A graph of a distribution of loan installments&#10;&#10;AI-generated content may be incorrect.">
            <a:extLst>
              <a:ext uri="{FF2B5EF4-FFF2-40B4-BE49-F238E27FC236}">
                <a16:creationId xmlns:a16="http://schemas.microsoft.com/office/drawing/2014/main" id="{3F40B30F-3DD1-5FB9-1FF6-5FEF5BF03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89" y="1718915"/>
            <a:ext cx="5473151" cy="3962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26A45A-E71D-E72A-7F6E-3779FEEF2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267" y="1856153"/>
            <a:ext cx="5778850" cy="38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8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7710-7F8F-97ED-6ABF-9074EF80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8634C-38C8-18B6-713B-C3F553511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Higher loan amounts, longer terms, and higher interest rates significantly increase default risk.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702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77FA-0598-0A4D-7466-27B40797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Borrower Financial Strength-</a:t>
            </a:r>
          </a:p>
          <a:p>
            <a:r>
              <a:rPr lang="en-US" dirty="0"/>
              <a:t>Annual Income</a:t>
            </a:r>
          </a:p>
        </p:txBody>
      </p:sp>
      <p:pic>
        <p:nvPicPr>
          <p:cNvPr id="3" name="Picture 2" descr="A graph of a distribution of income&#10;&#10;AI-generated content may be incorrect.">
            <a:extLst>
              <a:ext uri="{FF2B5EF4-FFF2-40B4-BE49-F238E27FC236}">
                <a16:creationId xmlns:a16="http://schemas.microsoft.com/office/drawing/2014/main" id="{C6674C1C-77D4-5904-6F7B-2D77233AA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68" y="2539999"/>
            <a:ext cx="5100312" cy="3653693"/>
          </a:xfrm>
          <a:prstGeom prst="rect">
            <a:avLst/>
          </a:prstGeom>
        </p:spPr>
      </p:pic>
      <p:pic>
        <p:nvPicPr>
          <p:cNvPr id="8" name="Picture 7" descr="A graph showing a couple of blue and red squares&#10;&#10;AI-generated content may be incorrect.">
            <a:extLst>
              <a:ext uri="{FF2B5EF4-FFF2-40B4-BE49-F238E27FC236}">
                <a16:creationId xmlns:a16="http://schemas.microsoft.com/office/drawing/2014/main" id="{2F3DACE9-E651-AC2D-F88E-E5087776D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816" y="2540000"/>
            <a:ext cx="5103599" cy="36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4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F6CA-1206-F97B-6DF4-F054E6DE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Rate </a:t>
            </a:r>
          </a:p>
        </p:txBody>
      </p:sp>
      <p:pic>
        <p:nvPicPr>
          <p:cNvPr id="4" name="Content Placeholder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087A7E6F-DD78-1286-257F-0D8DCE93E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868" y="2197609"/>
            <a:ext cx="5735436" cy="376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32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hart with red dots&#10;&#10;AI-generated content may be incorrect.">
            <a:extLst>
              <a:ext uri="{FF2B5EF4-FFF2-40B4-BE49-F238E27FC236}">
                <a16:creationId xmlns:a16="http://schemas.microsoft.com/office/drawing/2014/main" id="{0F3E78B5-2D3D-3888-FD38-C8E32DB5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47" y="1004721"/>
            <a:ext cx="10824308" cy="53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2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578B-C2E5-562B-D3EE-4DF0003F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299404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Debt Burden &amp; Default Risk</a:t>
            </a:r>
            <a:br>
              <a:rPr lang="en-US" dirty="0"/>
            </a:b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2465BF-F123-2698-1364-E60B9C999B7B}"/>
              </a:ext>
            </a:extLst>
          </p:cNvPr>
          <p:cNvSpPr txBox="1">
            <a:spLocks/>
          </p:cNvSpPr>
          <p:nvPr/>
        </p:nvSpPr>
        <p:spPr>
          <a:xfrm>
            <a:off x="603595" y="1709635"/>
            <a:ext cx="11155680" cy="7327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0" dirty="0">
                <a:ea typeface="+mj-lt"/>
                <a:cs typeface="+mj-lt"/>
              </a:rPr>
              <a:t>DTI: the percentage of a borrower’s monthly income that goes toward paying existing debts</a:t>
            </a:r>
            <a:br>
              <a:rPr lang="en-US" sz="2000" dirty="0"/>
            </a:b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31072A-16AA-AE96-3EFF-5441AC37E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12" y="2519646"/>
            <a:ext cx="5256796" cy="36553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B744AA-4980-870D-1D21-A554D6574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173" y="2520461"/>
            <a:ext cx="5686426" cy="36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27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0F63-047A-CED9-BDC3-EE9AE376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08501"/>
          </a:xfrm>
        </p:spPr>
        <p:txBody>
          <a:bodyPr>
            <a:normAutofit/>
          </a:bodyPr>
          <a:lstStyle/>
          <a:p>
            <a:r>
              <a:rPr lang="en-US" dirty="0"/>
              <a:t>Revolve Utilization</a:t>
            </a:r>
          </a:p>
        </p:txBody>
      </p:sp>
      <p:pic>
        <p:nvPicPr>
          <p:cNvPr id="5" name="Picture 4" descr="A graph showing a credit utility status&#10;&#10;AI-generated content may be incorrect.">
            <a:extLst>
              <a:ext uri="{FF2B5EF4-FFF2-40B4-BE49-F238E27FC236}">
                <a16:creationId xmlns:a16="http://schemas.microsoft.com/office/drawing/2014/main" id="{6B8CDBF8-F99F-590F-8D9E-EE83E39F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19" y="2422770"/>
            <a:ext cx="4808052" cy="32922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42D89B2-E73C-89DA-7886-B6F8FB38A5C0}"/>
              </a:ext>
            </a:extLst>
          </p:cNvPr>
          <p:cNvSpPr txBox="1">
            <a:spLocks/>
          </p:cNvSpPr>
          <p:nvPr/>
        </p:nvSpPr>
        <p:spPr>
          <a:xfrm>
            <a:off x="517300" y="1521577"/>
            <a:ext cx="11155680" cy="808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/>
          </a:p>
          <a:p>
            <a:r>
              <a:rPr lang="en-US" sz="2000" dirty="0" err="1"/>
              <a:t>Rev_util</a:t>
            </a:r>
            <a:r>
              <a:rPr lang="en-US" sz="2000" dirty="0"/>
              <a:t>:</a:t>
            </a:r>
            <a:r>
              <a:rPr lang="en-US" sz="2000" b="0" dirty="0"/>
              <a:t> </a:t>
            </a:r>
            <a:r>
              <a:rPr lang="en-US" sz="2000" b="0" dirty="0">
                <a:ea typeface="+mj-lt"/>
                <a:cs typeface="+mj-lt"/>
              </a:rPr>
              <a:t>credit utilization percentage on borrower’s credit cards/accounts.</a:t>
            </a:r>
          </a:p>
        </p:txBody>
      </p:sp>
      <p:pic>
        <p:nvPicPr>
          <p:cNvPr id="9" name="Content Placeholder 6" descr="A graph showing the percentage of credit usage&#10;&#10;AI-generated content may be incorrect.">
            <a:extLst>
              <a:ext uri="{FF2B5EF4-FFF2-40B4-BE49-F238E27FC236}">
                <a16:creationId xmlns:a16="http://schemas.microsoft.com/office/drawing/2014/main" id="{E8A67855-7B36-D4E9-2E03-CA4611C2F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2125" y="2424743"/>
            <a:ext cx="4946708" cy="32853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F69603-4C04-5DB5-3441-EEE8247DA440}"/>
              </a:ext>
            </a:extLst>
          </p:cNvPr>
          <p:cNvSpPr txBox="1"/>
          <p:nvPr/>
        </p:nvSpPr>
        <p:spPr>
          <a:xfrm>
            <a:off x="891442" y="5916898"/>
            <a:ext cx="76826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Borrowers who heavily depend on credit lines are significantly more likely to default.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4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6AEE-8107-04CD-EE3D-2505B90A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00B7-9901-5361-2A5B-3AC986A0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Higher loan amounts, longer terms, and higher interest rates significantly increase default risk.</a:t>
            </a:r>
          </a:p>
          <a:p>
            <a:r>
              <a:rPr lang="en-US" dirty="0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Lower income, higher debt burden, and high credit utilization strongly increase default risk.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6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62E7-CCB9-8167-2FA8-9A09CAA1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Demographics – Home Ownership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340CC-735F-FBE0-3F39-0AD757FA6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374" y="1991295"/>
            <a:ext cx="4863584" cy="3577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BCBBA7-219A-26CC-C13C-2EA0AB98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89" y="1992923"/>
            <a:ext cx="5265147" cy="357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1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EF09-C205-55EB-6922-ABFA2ADD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Loan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FD3C4F-4941-11F8-CC70-EDBA4CF82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491" y="1710774"/>
            <a:ext cx="5652529" cy="40848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5F9C45-9CC2-A4E0-ED50-4FAA6F31D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101" y="1598083"/>
            <a:ext cx="4967631" cy="420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5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546F-7F0C-57D1-2FBD-C962289E8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D77A-C815-70F0-850B-AE0D6C8A5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Higher loan amounts, longer terms, and higher interest rates significantly increase default risk.</a:t>
            </a:r>
          </a:p>
          <a:p>
            <a:r>
              <a:rPr lang="en-US" dirty="0">
                <a:ea typeface="+mn-lt"/>
                <a:cs typeface="+mn-lt"/>
              </a:rPr>
              <a:t>Lower income, higher debt burden, and high credit utilization strongly increase default risk.</a:t>
            </a:r>
          </a:p>
          <a:p>
            <a:r>
              <a:rPr lang="en-US" dirty="0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Renters default more than homeowners.</a:t>
            </a:r>
          </a:p>
          <a:p>
            <a:r>
              <a:rPr lang="en-US" dirty="0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Lending Club adjusts pricing (interest rates) based on loan purpose and associated risk.</a:t>
            </a:r>
          </a:p>
          <a:p>
            <a:r>
              <a:rPr lang="en-US" dirty="0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Small business loans carry higher risk and interest rates.</a:t>
            </a:r>
            <a:endParaRPr lang="en-US">
              <a:solidFill>
                <a:schemeClr val="accent2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93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B5E17-61CE-FBF3-D187-8CEB6C40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7054" y="2844331"/>
            <a:ext cx="5723988" cy="1316502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Loan Prediction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7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6F49-261D-6776-EC52-66F31F3E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46EC0-F6DA-874C-D305-6B63B14B8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Two models used for classification: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>
                <a:highlight>
                  <a:srgbClr val="FFFFFF"/>
                </a:highlight>
              </a:rPr>
              <a:t>Random Forest Classifier</a:t>
            </a:r>
          </a:p>
          <a:p>
            <a:pPr marL="0" indent="0">
              <a:buNone/>
            </a:pPr>
            <a:r>
              <a:rPr lang="en-US" dirty="0"/>
              <a:t>Trained on:</a:t>
            </a:r>
          </a:p>
          <a:p>
            <a:r>
              <a:rPr lang="en-US" dirty="0"/>
              <a:t>Cleaned and Engineered Features</a:t>
            </a:r>
          </a:p>
          <a:p>
            <a:r>
              <a:rPr lang="en-US" err="1"/>
              <a:t>OneHot</a:t>
            </a:r>
            <a:r>
              <a:rPr lang="en-US" dirty="0"/>
              <a:t> Encoding + Scaling</a:t>
            </a:r>
          </a:p>
          <a:p>
            <a:r>
              <a:rPr lang="en-US" dirty="0"/>
              <a:t>2 Different dataset (Training &amp; Test)</a:t>
            </a:r>
          </a:p>
          <a:p>
            <a:r>
              <a:rPr lang="en-US" dirty="0"/>
              <a:t>Test dataset Observation (</a:t>
            </a:r>
            <a:r>
              <a:rPr lang="en-US" dirty="0">
                <a:highlight>
                  <a:srgbClr val="FFFFFF"/>
                </a:highlight>
                <a:latin typeface="Bierstadt"/>
              </a:rPr>
              <a:t>759,338 Loans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2359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D7A2-D284-E5C6-AA25-756B370A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Matrix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C142-AF1D-0720-9A2B-92D757C04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7147"/>
            <a:ext cx="4444219" cy="4128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Accuracy: Overall Correct Prediction</a:t>
            </a:r>
          </a:p>
          <a:p>
            <a:r>
              <a:rPr lang="en-US" dirty="0"/>
              <a:t>Precision: Out of Predicted Defaulters, how many were correct?</a:t>
            </a:r>
          </a:p>
          <a:p>
            <a:r>
              <a:rPr lang="en-US" dirty="0"/>
              <a:t>Recall: Out of all actual Defaulters, How many were caught</a:t>
            </a:r>
          </a:p>
          <a:p>
            <a:r>
              <a:rPr lang="en-US" dirty="0"/>
              <a:t>F1-Score: Balance b/w Precision &amp; Recall (Risk Control)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EFE86D-600A-8793-41AC-40E6F9475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420973"/>
              </p:ext>
            </p:extLst>
          </p:nvPr>
        </p:nvGraphicFramePr>
        <p:xfrm>
          <a:off x="5392615" y="2500923"/>
          <a:ext cx="6133610" cy="286614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852083">
                  <a:extLst>
                    <a:ext uri="{9D8B030D-6E8A-4147-A177-3AD203B41FA5}">
                      <a16:colId xmlns:a16="http://schemas.microsoft.com/office/drawing/2014/main" val="1082515967"/>
                    </a:ext>
                  </a:extLst>
                </a:gridCol>
                <a:gridCol w="2338916">
                  <a:extLst>
                    <a:ext uri="{9D8B030D-6E8A-4147-A177-3AD203B41FA5}">
                      <a16:colId xmlns:a16="http://schemas.microsoft.com/office/drawing/2014/main" val="690173425"/>
                    </a:ext>
                  </a:extLst>
                </a:gridCol>
                <a:gridCol w="1942611">
                  <a:extLst>
                    <a:ext uri="{9D8B030D-6E8A-4147-A177-3AD203B41FA5}">
                      <a16:colId xmlns:a16="http://schemas.microsoft.com/office/drawing/2014/main" val="3537183410"/>
                    </a:ext>
                  </a:extLst>
                </a:gridCol>
              </a:tblGrid>
              <a:tr h="556517">
                <a:tc>
                  <a:txBody>
                    <a:bodyPr/>
                    <a:lstStyle/>
                    <a:p>
                      <a:r>
                        <a:rPr lang="en-US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35838"/>
                  </a:ext>
                </a:extLst>
              </a:tr>
              <a:tr h="556517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320677"/>
                  </a:ext>
                </a:extLst>
              </a:tr>
              <a:tr h="556517">
                <a:tc>
                  <a:txBody>
                    <a:bodyPr/>
                    <a:lstStyle/>
                    <a:p>
                      <a:r>
                        <a:rPr lang="en-US" dirty="0"/>
                        <a:t>Default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892107"/>
                  </a:ext>
                </a:extLst>
              </a:tr>
              <a:tr h="556517">
                <a:tc>
                  <a:txBody>
                    <a:bodyPr/>
                    <a:lstStyle/>
                    <a:p>
                      <a:r>
                        <a:rPr lang="en-US" dirty="0"/>
                        <a:t>Default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93432"/>
                  </a:ext>
                </a:extLst>
              </a:tr>
              <a:tr h="556517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159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688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BFA5-03DC-A435-6EDF-1B156908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– Random Forest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D8CB71-DF44-E1E3-9C35-6036D34CD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659" y="1924071"/>
            <a:ext cx="5939855" cy="43730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C79AC-79A1-4530-D83F-396E8138A29E}"/>
              </a:ext>
            </a:extLst>
          </p:cNvPr>
          <p:cNvSpPr txBox="1"/>
          <p:nvPr/>
        </p:nvSpPr>
        <p:spPr>
          <a:xfrm>
            <a:off x="1068916" y="2307167"/>
            <a:ext cx="392071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Corrected Prediction: 740,227 cases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Incorrect Prediction: 19,111 Loans</a:t>
            </a:r>
          </a:p>
        </p:txBody>
      </p:sp>
    </p:spTree>
    <p:extLst>
      <p:ext uri="{BB962C8B-B14F-4D97-AF65-F5344CB8AC3E}">
        <p14:creationId xmlns:p14="http://schemas.microsoft.com/office/powerpoint/2010/main" val="2483583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3F010-ED6D-EDB8-E30F-A9B95D17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800"/>
              <a:t>Thank you!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822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GestaltVTI</vt:lpstr>
      <vt:lpstr>Loan Default Prediction Using LendingClub Data</vt:lpstr>
      <vt:lpstr>Lending Club Business Overview</vt:lpstr>
      <vt:lpstr>Problem Statement</vt:lpstr>
      <vt:lpstr>Data Description</vt:lpstr>
      <vt:lpstr>Loan Status</vt:lpstr>
      <vt:lpstr>Loan Characteristics-Loan Amount</vt:lpstr>
      <vt:lpstr>Interest Rate</vt:lpstr>
      <vt:lpstr>Default Rate Trends</vt:lpstr>
      <vt:lpstr>Loan Repaying Term</vt:lpstr>
      <vt:lpstr>Relationship b/w Interest Rate and Term</vt:lpstr>
      <vt:lpstr>Installment</vt:lpstr>
      <vt:lpstr>Insights</vt:lpstr>
      <vt:lpstr>Borrower Financial Strength- Annual Income</vt:lpstr>
      <vt:lpstr>Default Rate </vt:lpstr>
      <vt:lpstr>PowerPoint Presentation</vt:lpstr>
      <vt:lpstr>Debt Burden &amp; Default Risk </vt:lpstr>
      <vt:lpstr>Revolve Utilization</vt:lpstr>
      <vt:lpstr>Insights</vt:lpstr>
      <vt:lpstr>Demographics – Home Ownership </vt:lpstr>
      <vt:lpstr>Purpose of Loan</vt:lpstr>
      <vt:lpstr>Key Takeaways</vt:lpstr>
      <vt:lpstr>Loan Prediction</vt:lpstr>
      <vt:lpstr>Models Used</vt:lpstr>
      <vt:lpstr>Model Evaluation Matrix &amp; Comparison</vt:lpstr>
      <vt:lpstr>Confusion Matrix – Random Forest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903</cp:revision>
  <dcterms:created xsi:type="dcterms:W3CDTF">2025-12-05T18:16:01Z</dcterms:created>
  <dcterms:modified xsi:type="dcterms:W3CDTF">2025-12-19T15:47:09Z</dcterms:modified>
</cp:coreProperties>
</file>